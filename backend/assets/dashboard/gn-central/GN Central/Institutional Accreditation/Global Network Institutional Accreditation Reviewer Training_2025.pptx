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TLTn0M26/sHw9/pPUcJ5jUMPs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La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slide" Target="slides/slide1.xml"/><Relationship Id="rId19" Type="http://schemas.openxmlformats.org/officeDocument/2006/relationships/font" Target="fonts/Lato-bold.fntdata"/><Relationship Id="rId6" Type="http://schemas.openxmlformats.org/officeDocument/2006/relationships/slide" Target="slides/slide2.xml"/><Relationship Id="rId18" Type="http://schemas.openxmlformats.org/officeDocument/2006/relationships/font" Target="fonts/La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1"/>
          <p:cNvCxnSpPr/>
          <p:nvPr/>
        </p:nvCxnSpPr>
        <p:spPr>
          <a:xfrm>
            <a:off x="3162300" y="1304588"/>
            <a:ext cx="8325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11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1"/>
          <p:cNvSpPr txBox="1"/>
          <p:nvPr>
            <p:ph type="ctrTitle"/>
          </p:nvPr>
        </p:nvSpPr>
        <p:spPr>
          <a:xfrm>
            <a:off x="3162300" y="1856300"/>
            <a:ext cx="8442000" cy="2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3187023" y="4317933"/>
            <a:ext cx="8442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12"/>
          <p:cNvCxnSpPr/>
          <p:nvPr/>
        </p:nvCxnSpPr>
        <p:spPr>
          <a:xfrm>
            <a:off x="566933" y="6320000"/>
            <a:ext cx="11062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2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37356" y="5634700"/>
            <a:ext cx="111848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10963233" y="6416833"/>
            <a:ext cx="1099200" cy="3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37B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0963233" y="6416833"/>
            <a:ext cx="1099200" cy="3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buClr>
                <a:schemeClr val="dk2"/>
              </a:buClr>
              <a:buSzPts val="1333"/>
              <a:buFont typeface="Lato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3.16.2018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0"/>
          <p:cNvSpPr/>
          <p:nvPr/>
        </p:nvSpPr>
        <p:spPr>
          <a:xfrm rot="5400000">
            <a:off x="730367" y="-744000"/>
            <a:ext cx="1925200" cy="341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3799" y="171169"/>
            <a:ext cx="1925067" cy="7914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/>
          <p:nvPr>
            <p:ph type="ctrTitle"/>
          </p:nvPr>
        </p:nvSpPr>
        <p:spPr>
          <a:xfrm>
            <a:off x="5665261" y="2358677"/>
            <a:ext cx="5409546" cy="242898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Institutional Accreditation 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Reviewer Training</a:t>
            </a:r>
            <a:endParaRPr sz="4800"/>
          </a:p>
        </p:txBody>
      </p:sp>
      <p:sp>
        <p:nvSpPr>
          <p:cNvPr id="30" name="Google Shape;30;p1"/>
          <p:cNvSpPr txBox="1"/>
          <p:nvPr/>
        </p:nvSpPr>
        <p:spPr>
          <a:xfrm>
            <a:off x="3778153" y="5892498"/>
            <a:ext cx="8607120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4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Ensuring high standards in dyslexia services through structured evaluation and accreditation</a:t>
            </a:r>
            <a:endParaRPr/>
          </a:p>
        </p:txBody>
      </p:sp>
      <p:pic>
        <p:nvPicPr>
          <p:cNvPr descr="Text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194" y="2548565"/>
            <a:ext cx="4068417" cy="194968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/>
        </p:nvSpPr>
        <p:spPr>
          <a:xfrm>
            <a:off x="6968067" y="1697085"/>
            <a:ext cx="50949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3720353" y="2001885"/>
            <a:ext cx="7541720" cy="376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3765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Objectives</a:t>
            </a:r>
            <a:endParaRPr/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Understand core quality standards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Conduct objective site evaluations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Key Performance Indicators (KPIs)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Provide clear feedback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Maintain professionalism and ethics</a:t>
            </a:r>
            <a:endParaRPr/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3720353" y="1344740"/>
            <a:ext cx="7980317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Institutional Accreditation Reviewer Training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/>
        </p:nvSpPr>
        <p:spPr>
          <a:xfrm>
            <a:off x="6968067" y="1697085"/>
            <a:ext cx="50949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3056965" y="1879263"/>
            <a:ext cx="7620225" cy="161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3765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Purpose of Institutional Accreditation</a:t>
            </a:r>
            <a:endParaRPr/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3720353" y="1344740"/>
            <a:ext cx="7980317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Institutional Accreditation Reviewer Training</a:t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2913530" y="3164904"/>
            <a:ext cx="8570259" cy="161052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Ensures high-quality, sustainable services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Supports mentorship and development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Aligns with IDA’s mission and values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Establishes transparent evaluation benchmarks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6968067" y="1697085"/>
            <a:ext cx="50949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2942898" y="1880499"/>
            <a:ext cx="6162490" cy="161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3765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Accreditation Levels</a:t>
            </a:r>
            <a:endParaRPr/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3720353" y="1344740"/>
            <a:ext cx="7980317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Institutional Accreditation Reviewer Training</a:t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2752165" y="3065093"/>
            <a:ext cx="8817989" cy="161052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Level I – Applicant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Level II – Provisional Accreditation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Level III – Full Accreditation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 Level IV – Full Accreditation with Commendation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6968067" y="1697085"/>
            <a:ext cx="50949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3514163" y="1526755"/>
            <a:ext cx="6162490" cy="161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3765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 Quality Standards</a:t>
            </a:r>
            <a:endParaRPr/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3720353" y="1287847"/>
            <a:ext cx="7980317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Institutional Accreditation Reviewer Training</a:t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3514163" y="2590800"/>
            <a:ext cx="7455355" cy="33753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Institutional Qualifications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Mission &amp; Planning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Organizational &amp; Financial Resources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Personnel Qualifications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Facilities &amp; Infrastructure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Communication &amp; Engagement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Impact &amp; Relationships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Self-Evaluation &amp; Continuous Development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/>
        </p:nvSpPr>
        <p:spPr>
          <a:xfrm>
            <a:off x="6968067" y="1697085"/>
            <a:ext cx="50949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2805539" y="1905540"/>
            <a:ext cx="6162490" cy="161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3765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Site Reviewer Procedures</a:t>
            </a:r>
            <a:endParaRPr/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3720353" y="1287847"/>
            <a:ext cx="7980317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Institutional Accreditation Reviewer Training</a:t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2721292" y="2428721"/>
            <a:ext cx="8979378" cy="185332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Pre-Site Visit: Review reports, schedule visit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Site Visit: Observe operations, interview personnel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Post-Visit: Document findings, submit report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/>
        </p:nvSpPr>
        <p:spPr>
          <a:xfrm>
            <a:off x="6968067" y="1697085"/>
            <a:ext cx="50949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2833886" y="1814584"/>
            <a:ext cx="7584555" cy="161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3765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Common Challenges and Solutions</a:t>
            </a:r>
            <a:endParaRPr/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" name="Google Shape;83;p7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720353" y="1287847"/>
            <a:ext cx="79803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Institutional Accreditation Reviewer Training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2539499" y="2892043"/>
            <a:ext cx="10536600" cy="18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Missing documentation → Guide institutions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Compliance differences → Use standardized templates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Resistance to feedback → Provide actionable recommendations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/>
        </p:nvSpPr>
        <p:spPr>
          <a:xfrm>
            <a:off x="6968067" y="1697085"/>
            <a:ext cx="50949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2899328" y="1814584"/>
            <a:ext cx="8137478" cy="161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3765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Reviewer Ethics and Best Practices</a:t>
            </a:r>
            <a:endParaRPr/>
          </a:p>
          <a:p>
            <a:pPr indent="0" lvl="0" marL="0" marR="0" rtl="0" algn="l">
              <a:lnSpc>
                <a:spcPct val="37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2" name="Google Shape;92;p8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  <p:sp>
        <p:nvSpPr>
          <p:cNvPr id="93" name="Google Shape;93;p8"/>
          <p:cNvSpPr txBox="1"/>
          <p:nvPr/>
        </p:nvSpPr>
        <p:spPr>
          <a:xfrm>
            <a:off x="3720353" y="1287847"/>
            <a:ext cx="7980317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Institutional Accreditation Reviewer Training</a:t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2800716" y="2621792"/>
            <a:ext cx="11784642" cy="202596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Maintain objectivity &amp; impartiality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Ensure confidentiality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Avoid conflicts of interest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Engage in ongoing professional development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/>
        </p:nvSpPr>
        <p:spPr>
          <a:xfrm>
            <a:off x="6968067" y="1697085"/>
            <a:ext cx="50949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2827610" y="1697085"/>
            <a:ext cx="8137478" cy="1614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3765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Conclusion and Next Steps</a:t>
            </a:r>
            <a:endParaRPr/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" name="Google Shape;101;p9"/>
          <p:cNvSpPr txBox="1"/>
          <p:nvPr/>
        </p:nvSpPr>
        <p:spPr>
          <a:xfrm>
            <a:off x="6235388" y="687595"/>
            <a:ext cx="5465282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Global Network</a:t>
            </a:r>
            <a:endParaRPr/>
          </a:p>
        </p:txBody>
      </p:sp>
      <p:sp>
        <p:nvSpPr>
          <p:cNvPr id="102" name="Google Shape;102;p9"/>
          <p:cNvSpPr txBox="1"/>
          <p:nvPr/>
        </p:nvSpPr>
        <p:spPr>
          <a:xfrm>
            <a:off x="3720353" y="1287847"/>
            <a:ext cx="7980317" cy="4778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</a:pPr>
            <a:r>
              <a:rPr b="1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Institutional Accreditation Reviewer Training</a:t>
            </a:r>
            <a:endParaRPr/>
          </a:p>
        </p:txBody>
      </p:sp>
      <p:sp>
        <p:nvSpPr>
          <p:cNvPr id="103" name="Google Shape;103;p9"/>
          <p:cNvSpPr txBox="1"/>
          <p:nvPr/>
        </p:nvSpPr>
        <p:spPr>
          <a:xfrm>
            <a:off x="2651824" y="687595"/>
            <a:ext cx="11408571" cy="33753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Stay updated on IDA standards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Participate in ongoing training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Char char="o"/>
            </a:pPr>
            <a:r>
              <a:rPr b="0" i="0" lang="en-US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Collaborate for high-quality dyslexia services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DA LOGO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2022-06-14T02:03:05Z</dcterms:created>
  <dc:creator>Natasha Rennie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